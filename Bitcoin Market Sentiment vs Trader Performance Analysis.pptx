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7" d="100"/>
          <a:sy n="67" d="100"/>
        </p:scale>
        <p:origin x="644"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4/21/2026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4/21/2026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4/21/2026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4/21/2026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4/21/2026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4/21/2026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4/21/2026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GB"/>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4/21/2026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4/21/2026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4/21/2026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4/21/2026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4/21/2026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IN" sz="4000" b="1" dirty="0"/>
              <a:t>Bitcoin Market Sentiment vs Trader Performance Analysis</a:t>
            </a:r>
            <a:br>
              <a:rPr lang="en-IN" sz="4000" dirty="0"/>
            </a:br>
            <a:endParaRPr lang="en-US" sz="4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IN" b="1" dirty="0"/>
              <a:t>Oindrila Chatterjee</a:t>
            </a:r>
            <a:br>
              <a:rPr lang="en-IN" b="1" dirty="0"/>
            </a:br>
            <a:r>
              <a:rPr lang="en-IN" b="1" dirty="0"/>
              <a:t> Project</a:t>
            </a:r>
            <a:endParaRPr lang="en-US" sz="2400" b="1"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r>
              <a:rPr lang="en-US" sz="3200" dirty="0"/>
              <a:t>The main objective of this project is to understand how market sentiment (fear and greed) affects trader behavior and performance.</a:t>
            </a:r>
            <a:br>
              <a:rPr lang="en-US" sz="3200" dirty="0"/>
            </a:br>
            <a:r>
              <a:rPr lang="en-US" sz="3200" dirty="0"/>
              <a:t>In simple terms, I tried to analyze whether traders earn more profit during greedy market conditions or fearful situations, and how their risk-taking behavior changes </a:t>
            </a:r>
            <a:r>
              <a:rPr lang="en-US" sz="3200" dirty="0" err="1"/>
              <a:t>accordingl</a:t>
            </a:r>
            <a:br>
              <a:rPr lang="en-US" sz="3200" dirty="0"/>
            </a:br>
            <a:endParaRPr lang="en-US" sz="3200" i="1" dirty="0">
              <a:solidFill>
                <a:srgbClr val="FFFFFF"/>
              </a:solidFill>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b="1" dirty="0">
                <a:solidFill>
                  <a:srgbClr val="FFFFFF"/>
                </a:solidFill>
              </a:rPr>
              <a:t>OBJECTIVE</a:t>
            </a: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DC3C32-B1B5-7B7C-BD1F-0DB9B5098A90}"/>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35A3E260-D0AD-14A7-59FA-D3BFB5076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74B5C7-DECD-E177-0343-0A2542686374}"/>
              </a:ext>
            </a:extLst>
          </p:cNvPr>
          <p:cNvSpPr>
            <a:spLocks noGrp="1"/>
          </p:cNvSpPr>
          <p:nvPr>
            <p:ph type="ctrTitle"/>
          </p:nvPr>
        </p:nvSpPr>
        <p:spPr>
          <a:xfrm>
            <a:off x="1097280" y="758952"/>
            <a:ext cx="10058400" cy="3892168"/>
          </a:xfrm>
        </p:spPr>
        <p:txBody>
          <a:bodyPr anchor="ctr">
            <a:normAutofit fontScale="90000"/>
          </a:bodyPr>
          <a:lstStyle/>
          <a:p>
            <a:r>
              <a:rPr lang="en-US" sz="3200" dirty="0"/>
              <a:t>For this project, I used two datasets:</a:t>
            </a:r>
            <a:br>
              <a:rPr lang="en-US" sz="3200" dirty="0"/>
            </a:br>
            <a:r>
              <a:rPr lang="en-US" sz="3200" dirty="0"/>
              <a:t>Bitcoin Fear and Greed Index dataset </a:t>
            </a:r>
            <a:br>
              <a:rPr lang="en-US" sz="3200" dirty="0"/>
            </a:br>
            <a:r>
              <a:rPr lang="en-US" sz="3200" dirty="0"/>
              <a:t>This dataset shows whether the market is in a state of fear or greed on a particular date </a:t>
            </a:r>
            <a:br>
              <a:rPr lang="en-US" sz="3200" dirty="0"/>
            </a:br>
            <a:r>
              <a:rPr lang="en-US" sz="3200" dirty="0"/>
              <a:t>Historical Trader Data </a:t>
            </a:r>
            <a:br>
              <a:rPr lang="en-US" sz="3200" dirty="0"/>
            </a:br>
            <a:r>
              <a:rPr lang="en-US" sz="3200" dirty="0"/>
              <a:t>This dataset includes details like profit/loss (</a:t>
            </a:r>
            <a:r>
              <a:rPr lang="en-US" sz="3200" dirty="0" err="1"/>
              <a:t>PnL</a:t>
            </a:r>
            <a:r>
              <a:rPr lang="en-US" sz="3200" dirty="0"/>
              <a:t>), leverage used, and trading activity </a:t>
            </a:r>
            <a:br>
              <a:rPr lang="en-US" sz="3200" dirty="0"/>
            </a:br>
            <a:r>
              <a:rPr lang="en-US" sz="3200" dirty="0"/>
              <a:t>Both datasets were combined using the date column to perform analysis</a:t>
            </a:r>
            <a:br>
              <a:rPr lang="en-US" sz="3200" dirty="0"/>
            </a:br>
            <a:endParaRPr lang="en-US" sz="3200" i="1" dirty="0">
              <a:solidFill>
                <a:srgbClr val="FFFFFF"/>
              </a:solidFill>
            </a:endParaRPr>
          </a:p>
        </p:txBody>
      </p:sp>
      <p:sp>
        <p:nvSpPr>
          <p:cNvPr id="49" name="Rectangle 48">
            <a:extLst>
              <a:ext uri="{FF2B5EF4-FFF2-40B4-BE49-F238E27FC236}">
                <a16:creationId xmlns:a16="http://schemas.microsoft.com/office/drawing/2014/main" id="{596E26FF-B88E-8CB5-F377-EDAA22890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C85746E6-0DE4-623B-FA7C-AC15332FE522}"/>
              </a:ext>
            </a:extLst>
          </p:cNvPr>
          <p:cNvSpPr>
            <a:spLocks noGrp="1"/>
          </p:cNvSpPr>
          <p:nvPr>
            <p:ph type="subTitle" idx="1"/>
          </p:nvPr>
        </p:nvSpPr>
        <p:spPr>
          <a:xfrm>
            <a:off x="1100051" y="5225240"/>
            <a:ext cx="10058400" cy="1143000"/>
          </a:xfrm>
        </p:spPr>
        <p:txBody>
          <a:bodyPr>
            <a:normAutofit/>
          </a:bodyPr>
          <a:lstStyle/>
          <a:p>
            <a:r>
              <a:rPr lang="en-US" b="1" dirty="0">
                <a:solidFill>
                  <a:srgbClr val="FFFFFF"/>
                </a:solidFill>
              </a:rPr>
              <a:t>DATASET USED</a:t>
            </a:r>
          </a:p>
        </p:txBody>
      </p:sp>
    </p:spTree>
    <p:extLst>
      <p:ext uri="{BB962C8B-B14F-4D97-AF65-F5344CB8AC3E}">
        <p14:creationId xmlns:p14="http://schemas.microsoft.com/office/powerpoint/2010/main" val="80039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01D0FD-0A5D-5190-5BB3-58969868EAB2}"/>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56FA6959-21C7-FF0E-1D1F-17283B3415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DFD9FA-19F9-3438-B7D2-C5066B790F02}"/>
              </a:ext>
            </a:extLst>
          </p:cNvPr>
          <p:cNvSpPr>
            <a:spLocks noGrp="1"/>
          </p:cNvSpPr>
          <p:nvPr>
            <p:ph type="ctrTitle"/>
          </p:nvPr>
        </p:nvSpPr>
        <p:spPr>
          <a:xfrm>
            <a:off x="1097280" y="758952"/>
            <a:ext cx="10058400" cy="3892168"/>
          </a:xfrm>
        </p:spPr>
        <p:txBody>
          <a:bodyPr anchor="ctr">
            <a:normAutofit fontScale="90000"/>
          </a:bodyPr>
          <a:lstStyle/>
          <a:p>
            <a:r>
              <a:rPr lang="en-US" sz="3200" dirty="0"/>
              <a:t>First, I cleaned both datasets and ensured the date format was consistent.</a:t>
            </a:r>
            <a:br>
              <a:rPr lang="en-US" sz="3200" dirty="0"/>
            </a:br>
            <a:r>
              <a:rPr lang="en-US" sz="3200" dirty="0"/>
              <a:t>Then, I merged the datasets using the common date column so that each trade could be linked with the market sentiment of that day.</a:t>
            </a:r>
            <a:br>
              <a:rPr lang="en-US" sz="3200" dirty="0"/>
            </a:br>
            <a:r>
              <a:rPr lang="en-US" sz="3200" dirty="0"/>
              <a:t>After merging, I created additional columns such as profit/loss category to simplify the analysis.</a:t>
            </a:r>
            <a:br>
              <a:rPr lang="en-US" sz="3200" dirty="0"/>
            </a:br>
            <a:r>
              <a:rPr lang="en-US" sz="3200" dirty="0"/>
              <a:t>Finally, I performed grouping and aggregation to identify patterns and trends.</a:t>
            </a:r>
            <a:br>
              <a:rPr lang="en-US" sz="3200" dirty="0"/>
            </a:br>
            <a:endParaRPr lang="en-US" sz="3200" i="1" dirty="0">
              <a:solidFill>
                <a:srgbClr val="FFFFFF"/>
              </a:solidFill>
            </a:endParaRPr>
          </a:p>
        </p:txBody>
      </p:sp>
      <p:sp>
        <p:nvSpPr>
          <p:cNvPr id="49" name="Rectangle 48">
            <a:extLst>
              <a:ext uri="{FF2B5EF4-FFF2-40B4-BE49-F238E27FC236}">
                <a16:creationId xmlns:a16="http://schemas.microsoft.com/office/drawing/2014/main" id="{C3A9FC17-BCF1-974E-C7AA-28EA951979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B078646F-26F5-EC2F-3417-413B7F518935}"/>
              </a:ext>
            </a:extLst>
          </p:cNvPr>
          <p:cNvSpPr>
            <a:spLocks noGrp="1"/>
          </p:cNvSpPr>
          <p:nvPr>
            <p:ph type="subTitle" idx="1"/>
          </p:nvPr>
        </p:nvSpPr>
        <p:spPr>
          <a:xfrm>
            <a:off x="1100051" y="5225240"/>
            <a:ext cx="10058400" cy="1143000"/>
          </a:xfrm>
        </p:spPr>
        <p:txBody>
          <a:bodyPr>
            <a:normAutofit/>
          </a:bodyPr>
          <a:lstStyle/>
          <a:p>
            <a:r>
              <a:rPr lang="en-US" b="1" dirty="0">
                <a:solidFill>
                  <a:srgbClr val="FFFFFF"/>
                </a:solidFill>
              </a:rPr>
              <a:t>METHODOLOGY</a:t>
            </a:r>
          </a:p>
        </p:txBody>
      </p:sp>
    </p:spTree>
    <p:extLst>
      <p:ext uri="{BB962C8B-B14F-4D97-AF65-F5344CB8AC3E}">
        <p14:creationId xmlns:p14="http://schemas.microsoft.com/office/powerpoint/2010/main" val="169091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728F11-60BE-20B4-1DB2-AC8A11F4E698}"/>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2CA89CEC-14C4-E36C-AB59-795EA73A5D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7117E9-B3DE-5AD7-3653-F2143A8D580E}"/>
              </a:ext>
            </a:extLst>
          </p:cNvPr>
          <p:cNvSpPr>
            <a:spLocks noGrp="1"/>
          </p:cNvSpPr>
          <p:nvPr>
            <p:ph type="ctrTitle"/>
          </p:nvPr>
        </p:nvSpPr>
        <p:spPr>
          <a:xfrm>
            <a:off x="1097280" y="4362450"/>
            <a:ext cx="8580120" cy="288670"/>
          </a:xfrm>
        </p:spPr>
        <p:txBody>
          <a:bodyPr anchor="ctr">
            <a:noAutofit/>
          </a:bodyPr>
          <a:lstStyle/>
          <a:p>
            <a:r>
              <a:rPr lang="en-US" sz="2000" dirty="0"/>
              <a:t>From the analysis, it is clear that average profits are higher during greed periods compared to fear periods.</a:t>
            </a:r>
            <a:br>
              <a:rPr lang="en-US" sz="2000" dirty="0"/>
            </a:br>
            <a:r>
              <a:rPr lang="en-US" sz="2000" dirty="0"/>
              <a:t>This suggests that traders benefit more when the market is optimistic and prices are rising.</a:t>
            </a:r>
            <a:br>
              <a:rPr lang="en-US" sz="2000" dirty="0"/>
            </a:br>
            <a:endParaRPr lang="en-US" sz="2000" i="1" dirty="0">
              <a:solidFill>
                <a:srgbClr val="FFFFFF"/>
              </a:solidFill>
            </a:endParaRPr>
          </a:p>
        </p:txBody>
      </p:sp>
      <p:sp>
        <p:nvSpPr>
          <p:cNvPr id="49" name="Rectangle 48">
            <a:extLst>
              <a:ext uri="{FF2B5EF4-FFF2-40B4-BE49-F238E27FC236}">
                <a16:creationId xmlns:a16="http://schemas.microsoft.com/office/drawing/2014/main" id="{34578D46-9937-A512-CD9B-24483876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E636FA1A-72B9-47FA-AF83-95CF49A0A799}"/>
              </a:ext>
            </a:extLst>
          </p:cNvPr>
          <p:cNvSpPr>
            <a:spLocks noGrp="1"/>
          </p:cNvSpPr>
          <p:nvPr>
            <p:ph type="subTitle" idx="1"/>
          </p:nvPr>
        </p:nvSpPr>
        <p:spPr>
          <a:xfrm>
            <a:off x="1100051" y="5225240"/>
            <a:ext cx="10058400" cy="1143000"/>
          </a:xfrm>
        </p:spPr>
        <p:txBody>
          <a:bodyPr>
            <a:normAutofit/>
          </a:bodyPr>
          <a:lstStyle/>
          <a:p>
            <a:r>
              <a:rPr lang="en-IN" dirty="0">
                <a:solidFill>
                  <a:schemeClr val="bg1"/>
                </a:solidFill>
              </a:rPr>
              <a:t>PROFIT VS SENTIMENT</a:t>
            </a:r>
            <a:endParaRPr lang="en-US" dirty="0">
              <a:solidFill>
                <a:schemeClr val="bg1"/>
              </a:solidFill>
            </a:endParaRPr>
          </a:p>
        </p:txBody>
      </p:sp>
      <p:sp>
        <p:nvSpPr>
          <p:cNvPr id="4" name="Rectangle 1">
            <a:extLst>
              <a:ext uri="{FF2B5EF4-FFF2-40B4-BE49-F238E27FC236}">
                <a16:creationId xmlns:a16="http://schemas.microsoft.com/office/drawing/2014/main" id="{2418A5FF-C392-7499-CC56-D97F4D973BD1}"/>
              </a:ext>
            </a:extLst>
          </p:cNvPr>
          <p:cNvSpPr>
            <a:spLocks noChangeArrowheads="1"/>
          </p:cNvSpPr>
          <p:nvPr/>
        </p:nvSpPr>
        <p:spPr bwMode="auto">
          <a:xfrm>
            <a:off x="0" y="-2639184"/>
            <a:ext cx="21100982" cy="5278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panose="020B0604020202020204" pitchFamily="34" charset="-128"/>
              </a:rPr>
              <a:t>classification Fear 50 Extreme Greed 46 Greed 33 Neutral 8 Extreme Fear 7 Name: count, dtype: int64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32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052" name="Picture 4">
            <a:extLst>
              <a:ext uri="{FF2B5EF4-FFF2-40B4-BE49-F238E27FC236}">
                <a16:creationId xmlns:a16="http://schemas.microsoft.com/office/drawing/2014/main" id="{BC607A34-5DE8-5B92-96F3-ED9202134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77718"/>
            <a:ext cx="8439149" cy="3608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4755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6D22F4-E2E0-8AD5-093D-CBBAF5349E84}"/>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68C7C9E3-CDC5-F342-92CF-800BE27D3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2D60-89E0-A0FE-3FF6-22292275716F}"/>
              </a:ext>
            </a:extLst>
          </p:cNvPr>
          <p:cNvSpPr>
            <a:spLocks noGrp="1"/>
          </p:cNvSpPr>
          <p:nvPr>
            <p:ph type="ctrTitle"/>
          </p:nvPr>
        </p:nvSpPr>
        <p:spPr>
          <a:xfrm>
            <a:off x="1097280" y="3810000"/>
            <a:ext cx="9294495" cy="841119"/>
          </a:xfrm>
        </p:spPr>
        <p:txBody>
          <a:bodyPr anchor="ctr">
            <a:noAutofit/>
          </a:bodyPr>
          <a:lstStyle/>
          <a:p>
            <a:r>
              <a:rPr lang="en-US" sz="1800" dirty="0"/>
              <a:t>The number of trades is noticeably higher during greed phases.</a:t>
            </a:r>
            <a:br>
              <a:rPr lang="en-US" sz="1800" dirty="0"/>
            </a:br>
            <a:r>
              <a:rPr lang="en-US" sz="1800" dirty="0"/>
              <a:t>This indicates that traders are more active and confident when the market sentiment is positive.</a:t>
            </a:r>
            <a:br>
              <a:rPr lang="en-US" sz="1800" dirty="0"/>
            </a:br>
            <a:r>
              <a:rPr lang="en-US" sz="1800" dirty="0"/>
              <a:t>On the other hand, during fear periods, trading activity reduces significantly.</a:t>
            </a:r>
            <a:br>
              <a:rPr lang="en-US" sz="1800" dirty="0"/>
            </a:br>
            <a:endParaRPr lang="en-US" sz="1800" i="1" dirty="0">
              <a:solidFill>
                <a:srgbClr val="FFFFFF"/>
              </a:solidFill>
            </a:endParaRPr>
          </a:p>
        </p:txBody>
      </p:sp>
      <p:sp>
        <p:nvSpPr>
          <p:cNvPr id="49" name="Rectangle 48">
            <a:extLst>
              <a:ext uri="{FF2B5EF4-FFF2-40B4-BE49-F238E27FC236}">
                <a16:creationId xmlns:a16="http://schemas.microsoft.com/office/drawing/2014/main" id="{CFEC5A68-5B8D-DDDB-1070-4081A4881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977A20C9-9359-850B-A04A-9D6D25ADB3FE}"/>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TRADING ACTIVITY</a:t>
            </a:r>
          </a:p>
        </p:txBody>
      </p:sp>
      <p:sp>
        <p:nvSpPr>
          <p:cNvPr id="6" name="Rectangle 1">
            <a:extLst>
              <a:ext uri="{FF2B5EF4-FFF2-40B4-BE49-F238E27FC236}">
                <a16:creationId xmlns:a16="http://schemas.microsoft.com/office/drawing/2014/main" id="{F0B94274-88E4-91DB-2302-1DC25AEEA1C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panose="020B0604020202020204" pitchFamily="34" charset="-128"/>
              </a:rPr>
              <a:t>classification Fear 50 Extreme Greed 46 Greed 33 Neutral 8 Extreme Fear 7 Name: count, dtype: int64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327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4" name="Picture 2">
            <a:extLst>
              <a:ext uri="{FF2B5EF4-FFF2-40B4-BE49-F238E27FC236}">
                <a16:creationId xmlns:a16="http://schemas.microsoft.com/office/drawing/2014/main" id="{595465F7-66C9-03D2-A06C-5325D4DAD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075" y="272242"/>
            <a:ext cx="6543675" cy="300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062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90857A-C756-31C2-09C7-71BBAE48E02E}"/>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20F05565-A2B3-CD32-3651-6DBC7BBEC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6B51D3-A822-1E30-0278-843764449C37}"/>
              </a:ext>
            </a:extLst>
          </p:cNvPr>
          <p:cNvSpPr>
            <a:spLocks noGrp="1"/>
          </p:cNvSpPr>
          <p:nvPr>
            <p:ph type="ctrTitle"/>
          </p:nvPr>
        </p:nvSpPr>
        <p:spPr>
          <a:xfrm>
            <a:off x="935355" y="1617790"/>
            <a:ext cx="10058400" cy="1717420"/>
          </a:xfrm>
        </p:spPr>
        <p:txBody>
          <a:bodyPr anchor="ctr">
            <a:noAutofit/>
          </a:bodyPr>
          <a:lstStyle/>
          <a:p>
            <a:r>
              <a:rPr lang="en-US" sz="3200" dirty="0"/>
              <a:t>The average leverage used by traders is higher during greed periods.</a:t>
            </a:r>
            <a:br>
              <a:rPr lang="en-US" sz="3200" dirty="0"/>
            </a:br>
            <a:r>
              <a:rPr lang="en-US" sz="3200" dirty="0"/>
              <a:t>This shows that traders are willing to take higher risks when they expect the market to go up.</a:t>
            </a:r>
            <a:br>
              <a:rPr lang="en-US" sz="3200" dirty="0"/>
            </a:br>
            <a:r>
              <a:rPr lang="en-US" sz="3200" dirty="0"/>
              <a:t>In contrast, during fear periods, traders tend to be more cautious and reduce their risk exposure</a:t>
            </a:r>
            <a:br>
              <a:rPr lang="en-US" sz="3200" dirty="0"/>
            </a:br>
            <a:endParaRPr lang="en-US" sz="3200" i="1" dirty="0">
              <a:solidFill>
                <a:srgbClr val="FFFFFF"/>
              </a:solidFill>
            </a:endParaRPr>
          </a:p>
        </p:txBody>
      </p:sp>
      <p:sp>
        <p:nvSpPr>
          <p:cNvPr id="49" name="Rectangle 48">
            <a:extLst>
              <a:ext uri="{FF2B5EF4-FFF2-40B4-BE49-F238E27FC236}">
                <a16:creationId xmlns:a16="http://schemas.microsoft.com/office/drawing/2014/main" id="{6D34FC71-8FF0-1170-C123-F13927105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6EAB443-DEB2-6308-ECD8-5EB15A853EB0}"/>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LEVARAGE ANALYSIS</a:t>
            </a:r>
          </a:p>
        </p:txBody>
      </p:sp>
    </p:spTree>
    <p:extLst>
      <p:ext uri="{BB962C8B-B14F-4D97-AF65-F5344CB8AC3E}">
        <p14:creationId xmlns:p14="http://schemas.microsoft.com/office/powerpoint/2010/main" val="3887880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AD76A-2CF2-C5DA-BEB5-D9D8DB2C7D87}"/>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9A0A1E4D-FD63-DB8B-E8DE-369678A31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ED688C69-C715-6EBC-D490-D86F0A630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A62E631F-A85E-414B-C919-1E187F31D363}"/>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KEY INSIGHTS</a:t>
            </a:r>
          </a:p>
        </p:txBody>
      </p:sp>
      <p:sp>
        <p:nvSpPr>
          <p:cNvPr id="4" name="Rectangle 1">
            <a:extLst>
              <a:ext uri="{FF2B5EF4-FFF2-40B4-BE49-F238E27FC236}">
                <a16:creationId xmlns:a16="http://schemas.microsoft.com/office/drawing/2014/main" id="{32BEEA69-0DFC-C45E-0CBC-761AAFB3628D}"/>
              </a:ext>
            </a:extLst>
          </p:cNvPr>
          <p:cNvSpPr>
            <a:spLocks noGrp="1" noChangeArrowheads="1"/>
          </p:cNvSpPr>
          <p:nvPr>
            <p:ph type="ctrTitle"/>
          </p:nvPr>
        </p:nvSpPr>
        <p:spPr bwMode="auto">
          <a:xfrm>
            <a:off x="887413" y="1711325"/>
            <a:ext cx="10058400" cy="171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Traders tend to earn higher profits during greed phases.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Market optimism leads to increased trading activity.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Traders use higher leverage in greedy market conditions, indicating higher risk-taking behavior.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Fear phases are associated with lower profits and reduced trading activity. </a:t>
            </a:r>
          </a:p>
        </p:txBody>
      </p:sp>
    </p:spTree>
    <p:extLst>
      <p:ext uri="{BB962C8B-B14F-4D97-AF65-F5344CB8AC3E}">
        <p14:creationId xmlns:p14="http://schemas.microsoft.com/office/powerpoint/2010/main" val="1900460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A03A27-FFA2-3DCE-F460-F5C36EF6606D}"/>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621DE834-1AB3-1A3A-9BA7-AFB938F67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41D7191-9971-574A-F9CA-BFAAF2D40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71D7FAC1-E436-C1BE-C01C-09707F280BA4}"/>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CONCLUSION</a:t>
            </a:r>
          </a:p>
        </p:txBody>
      </p:sp>
      <p:sp>
        <p:nvSpPr>
          <p:cNvPr id="4" name="Rectangle 1">
            <a:extLst>
              <a:ext uri="{FF2B5EF4-FFF2-40B4-BE49-F238E27FC236}">
                <a16:creationId xmlns:a16="http://schemas.microsoft.com/office/drawing/2014/main" id="{47017489-743B-82A1-EA19-74C6C4625D74}"/>
              </a:ext>
            </a:extLst>
          </p:cNvPr>
          <p:cNvSpPr>
            <a:spLocks noGrp="1" noChangeArrowheads="1"/>
          </p:cNvSpPr>
          <p:nvPr>
            <p:ph type="ctrTitle"/>
          </p:nvPr>
        </p:nvSpPr>
        <p:spPr bwMode="auto">
          <a:xfrm>
            <a:off x="334963" y="2090172"/>
            <a:ext cx="11942693"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dirty="0"/>
              <a:t>From this analysis, it can be concluded that market sentiment plays a very important role in trading behavior.</a:t>
            </a:r>
            <a:br>
              <a:rPr lang="en-US" sz="1800" dirty="0"/>
            </a:br>
            <a:r>
              <a:rPr lang="en-US" sz="1800" dirty="0"/>
              <a:t>Greed phases encourage traders to take more risks, resulting in higher profits but also increased volatility.</a:t>
            </a:r>
            <a:br>
              <a:rPr lang="en-US" sz="1800" dirty="0"/>
            </a:br>
            <a:r>
              <a:rPr lang="en-US" sz="1800" dirty="0"/>
              <a:t>Fear phases, on the other hand, lead to cautious behavior, lower participation, and reduced profitability.</a:t>
            </a:r>
            <a:br>
              <a:rPr lang="en-US" sz="1800" dirty="0"/>
            </a:br>
            <a:r>
              <a:rPr lang="en-US" sz="1800" dirty="0"/>
              <a:t>Overall, understanding market sentiment can help traders make more informed decisions</a:t>
            </a:r>
            <a:br>
              <a:rPr lang="en-US" sz="1800" dirty="0"/>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0338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4C0BC9-A914-A984-7807-0D560C386EE9}"/>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73712352-2150-3AF1-729D-47C6A25E9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0960044-ECFC-9853-0019-677CBBD6D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A58649B8-9872-4FDE-A440-5861FEAD9E91}"/>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FINAL NOTE</a:t>
            </a:r>
          </a:p>
        </p:txBody>
      </p:sp>
      <p:sp>
        <p:nvSpPr>
          <p:cNvPr id="4" name="Rectangle 1">
            <a:extLst>
              <a:ext uri="{FF2B5EF4-FFF2-40B4-BE49-F238E27FC236}">
                <a16:creationId xmlns:a16="http://schemas.microsoft.com/office/drawing/2014/main" id="{77AADBA5-AAE7-E50D-1B9A-8FC17F4CDAE1}"/>
              </a:ext>
            </a:extLst>
          </p:cNvPr>
          <p:cNvSpPr>
            <a:spLocks noGrp="1" noChangeArrowheads="1"/>
          </p:cNvSpPr>
          <p:nvPr>
            <p:ph type="ctrTitle"/>
          </p:nvPr>
        </p:nvSpPr>
        <p:spPr bwMode="auto">
          <a:xfrm>
            <a:off x="153988" y="2438972"/>
            <a:ext cx="11716669"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dirty="0"/>
              <a:t>This project helped me understand how data analysis can be used to study real-world financial behavior.</a:t>
            </a:r>
            <a:br>
              <a:rPr lang="en-US" sz="1800" dirty="0"/>
            </a:br>
            <a:r>
              <a:rPr lang="en-US" sz="1800" dirty="0"/>
              <a:t>It also showed how psychological factors like fear and greed directly impact trading decisions and outcomes.</a:t>
            </a:r>
            <a:br>
              <a:rPr lang="en-US" sz="1800" dirty="0"/>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4177369"/>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{BA94C6C8-B149-4201-85C8-5503660A9C02}TFf0a5ceae-4542-492d-822e-d65a94fb0e1e3b562c5a_win32-009a0557e699</Template>
  <TotalTime>1312</TotalTime>
  <Words>557</Words>
  <Application>Microsoft Office PowerPoint</Application>
  <PresentationFormat>Widescreen</PresentationFormat>
  <Paragraphs>28</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Unicode MS</vt:lpstr>
      <vt:lpstr>Bookman Old Style</vt:lpstr>
      <vt:lpstr>Calibri</vt:lpstr>
      <vt:lpstr>Franklin Gothic Book</vt:lpstr>
      <vt:lpstr>Custom</vt:lpstr>
      <vt:lpstr>Bitcoin Market Sentiment vs Trader Performance Analysis </vt:lpstr>
      <vt:lpstr>The main objective of this project is to understand how market sentiment (fear and greed) affects trader behavior and performance. In simple terms, I tried to analyze whether traders earn more profit during greedy market conditions or fearful situations, and how their risk-taking behavior changes accordingl </vt:lpstr>
      <vt:lpstr>For this project, I used two datasets: Bitcoin Fear and Greed Index dataset  This dataset shows whether the market is in a state of fear or greed on a particular date  Historical Trader Data  This dataset includes details like profit/loss (PnL), leverage used, and trading activity  Both datasets were combined using the date column to perform analysis </vt:lpstr>
      <vt:lpstr>First, I cleaned both datasets and ensured the date format was consistent. Then, I merged the datasets using the common date column so that each trade could be linked with the market sentiment of that day. After merging, I created additional columns such as profit/loss category to simplify the analysis. Finally, I performed grouping and aggregation to identify patterns and trends. </vt:lpstr>
      <vt:lpstr>From the analysis, it is clear that average profits are higher during greed periods compared to fear periods. This suggests that traders benefit more when the market is optimistic and prices are rising. </vt:lpstr>
      <vt:lpstr>The number of trades is noticeably higher during greed phases. This indicates that traders are more active and confident when the market sentiment is positive. On the other hand, during fear periods, trading activity reduces significantly. </vt:lpstr>
      <vt:lpstr>The average leverage used by traders is higher during greed periods. This shows that traders are willing to take higher risks when they expect the market to go up. In contrast, during fear periods, traders tend to be more cautious and reduce their risk exposure </vt:lpstr>
      <vt:lpstr> Traders tend to earn higher profits during greed phases.  Market optimism leads to increased trading activity.  Traders use higher leverage in greedy market conditions, indicating higher risk-taking behavior.  Fear phases are associated with lower profits and reduced trading activity. </vt:lpstr>
      <vt:lpstr>From this analysis, it can be concluded that market sentiment plays a very important role in trading behavior. Greed phases encourage traders to take more risks, resulting in higher profits but also increased volatility. Fear phases, on the other hand, lead to cautious behavior, lower participation, and reduced profitability. Overall, understanding market sentiment can help traders make more informed decisions </vt:lpstr>
      <vt:lpstr>This project helped me understand how data analysis can be used to study real-world financial behavior. It also showed how psychological factors like fear and greed directly impact trading decisions and outcomes.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Oindrila Chatterjee</dc:creator>
  <cp:lastModifiedBy>Oindrila Chatterjee</cp:lastModifiedBy>
  <cp:revision>1</cp:revision>
  <dcterms:created xsi:type="dcterms:W3CDTF">2026-04-21T14:53:19Z</dcterms:created>
  <dcterms:modified xsi:type="dcterms:W3CDTF">2026-04-22T12:45:46Z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